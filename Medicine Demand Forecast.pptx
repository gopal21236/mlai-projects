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8490D-C395-44E7-9D2C-14A75D5C3A4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6AF99-6654-410F-9AFF-3A76AA6B6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A6AF99-6654-410F-9AFF-3A76AA6B63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3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1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5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6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0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4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3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6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1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0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4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A14D6-C257-406E-B17C-01C02DE7EF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A5979-A20C-4C12-BD54-5DB190AB0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5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palakrishnankumar-a733011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aggle.com/gopalkk2" TargetMode="External"/><Relationship Id="rId4" Type="http://schemas.openxmlformats.org/officeDocument/2006/relationships/hyperlink" Target="https://www.github.com/Gopalakrishnan-Kumar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gUAj2FHADCBXikbqZvXKlOoDjvklft5j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Medicine Demand Forecasting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4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4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5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761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https://colab.research.google.com/drive/1gUAj2FHADCBXikbqZvXKlOoDjvklft5j?usp=sharing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this project is to </a:t>
            </a:r>
            <a:r>
              <a:rPr lang="en-US" b="1" dirty="0"/>
              <a:t>predict daily and monthly demand for essential medicines</a:t>
            </a:r>
            <a:r>
              <a:rPr lang="en-US" dirty="0"/>
              <a:t> using historical data and time-series forecasting.</a:t>
            </a:r>
            <a:br>
              <a:rPr lang="en-US" dirty="0"/>
            </a:br>
            <a:r>
              <a:rPr lang="en-US" dirty="0"/>
              <a:t>By anticipating medicine demand, healthcare facilities can prevent </a:t>
            </a:r>
            <a:r>
              <a:rPr lang="en-US" b="1" dirty="0" err="1"/>
              <a:t>stockouts</a:t>
            </a:r>
            <a:r>
              <a:rPr lang="en-US" dirty="0"/>
              <a:t>, reduce </a:t>
            </a:r>
            <a:r>
              <a:rPr lang="en-US" b="1" dirty="0"/>
              <a:t>overstocking costs</a:t>
            </a:r>
            <a:r>
              <a:rPr lang="en-US" dirty="0"/>
              <a:t>, and ensure </a:t>
            </a:r>
            <a:r>
              <a:rPr lang="en-US" b="1" dirty="0"/>
              <a:t>timely availability of critical drugs</a:t>
            </a:r>
            <a:r>
              <a:rPr lang="en-US" dirty="0"/>
              <a:t> for patients.</a:t>
            </a:r>
          </a:p>
        </p:txBody>
      </p:sp>
    </p:spTree>
    <p:extLst>
      <p:ext uri="{BB962C8B-B14F-4D97-AF65-F5344CB8AC3E}">
        <p14:creationId xmlns:p14="http://schemas.microsoft.com/office/powerpoint/2010/main" val="39781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real pharmaceutical sales data is not publicly available, a </a:t>
            </a:r>
            <a:r>
              <a:rPr lang="en-US" b="1" dirty="0"/>
              <a:t>synthetic dataset</a:t>
            </a:r>
            <a:r>
              <a:rPr lang="en-US" dirty="0"/>
              <a:t> was generated to simulate realistic daily demand for medicines between </a:t>
            </a:r>
            <a:r>
              <a:rPr lang="en-US" b="1" dirty="0"/>
              <a:t>January 2020 and December 2023</a:t>
            </a:r>
            <a:r>
              <a:rPr lang="en-US"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96417"/>
              </p:ext>
            </p:extLst>
          </p:nvPr>
        </p:nvGraphicFramePr>
        <p:xfrm>
          <a:off x="838200" y="3291941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47360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67927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Column Name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58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Daily 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376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Medicine_Demand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Total daily units sold across all medicines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8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Antibiotics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Demand for infection control drugs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103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Painkillers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Demand for analgesics and fever reducers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8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Vitamins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Demand for supplements and immunity boosters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25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04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1" y="1852449"/>
            <a:ext cx="9189738" cy="4297689"/>
          </a:xfrm>
        </p:spPr>
      </p:pic>
    </p:spTree>
    <p:extLst>
      <p:ext uri="{BB962C8B-B14F-4D97-AF65-F5344CB8AC3E}">
        <p14:creationId xmlns:p14="http://schemas.microsoft.com/office/powerpoint/2010/main" val="331640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📅 Data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Frequency:</a:t>
            </a:r>
            <a:r>
              <a:rPr lang="en-US" dirty="0"/>
              <a:t> Daily data (2020–2023)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Seasonality:</a:t>
            </a:r>
            <a:r>
              <a:rPr lang="en-US" dirty="0"/>
              <a:t> Higher demand during flu and viral outbreak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Trend:</a:t>
            </a:r>
            <a:r>
              <a:rPr lang="en-US" dirty="0"/>
              <a:t> Gradual upward trend over years (population growth and awareness)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Noise:</a:t>
            </a:r>
            <a:r>
              <a:rPr lang="en-US" dirty="0"/>
              <a:t> Random daily fluctuations (supply issues, weekend effects)</a:t>
            </a:r>
          </a:p>
        </p:txBody>
      </p:sp>
    </p:spTree>
    <p:extLst>
      <p:ext uri="{BB962C8B-B14F-4D97-AF65-F5344CB8AC3E}">
        <p14:creationId xmlns:p14="http://schemas.microsoft.com/office/powerpoint/2010/main" val="195964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2" y="1852449"/>
            <a:ext cx="7772415" cy="4297689"/>
          </a:xfrm>
        </p:spPr>
      </p:pic>
    </p:spTree>
    <p:extLst>
      <p:ext uri="{BB962C8B-B14F-4D97-AF65-F5344CB8AC3E}">
        <p14:creationId xmlns:p14="http://schemas.microsoft.com/office/powerpoint/2010/main" val="411702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Histogram – Distribution of Daily Medicine Demand</a:t>
            </a:r>
          </a:p>
          <a:p>
            <a:r>
              <a:rPr lang="en-US" dirty="0"/>
              <a:t>Most days recorded between </a:t>
            </a:r>
            <a:r>
              <a:rPr lang="en-US" b="1" dirty="0"/>
              <a:t>450 and 650 units sold</a:t>
            </a:r>
            <a:r>
              <a:rPr lang="en-US" dirty="0"/>
              <a:t>, with a few days spiking above </a:t>
            </a:r>
            <a:r>
              <a:rPr lang="en-US" b="1" dirty="0"/>
              <a:t>800 units</a:t>
            </a:r>
            <a:r>
              <a:rPr lang="en-US" dirty="0"/>
              <a:t>.</a:t>
            </a:r>
          </a:p>
          <a:p>
            <a:r>
              <a:rPr lang="en-US" dirty="0"/>
              <a:t>The histogram showed a </a:t>
            </a:r>
            <a:r>
              <a:rPr lang="en-US" b="1" dirty="0"/>
              <a:t>slightly right-skewed distribution</a:t>
            </a:r>
            <a:r>
              <a:rPr lang="en-US" dirty="0"/>
              <a:t>, indicating that higher-than-average demand occurs during outbreak seasons (e.g., flu waves).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Pharmacy managers can anticipate and stock additional quantities before peak demand periods.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42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86" y="1825625"/>
            <a:ext cx="8776427" cy="4351338"/>
          </a:xfrm>
        </p:spPr>
      </p:pic>
    </p:spTree>
    <p:extLst>
      <p:ext uri="{BB962C8B-B14F-4D97-AF65-F5344CB8AC3E}">
        <p14:creationId xmlns:p14="http://schemas.microsoft.com/office/powerpoint/2010/main" val="138356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Exploratory Data Analysis (EDA)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2️⃣ Bar Chart – Monthly Average Medicine Demand</a:t>
            </a:r>
          </a:p>
          <a:p>
            <a:r>
              <a:rPr lang="en-US" dirty="0"/>
              <a:t>The </a:t>
            </a:r>
            <a:r>
              <a:rPr lang="en-US" b="1" dirty="0"/>
              <a:t>bar chart</a:t>
            </a:r>
            <a:r>
              <a:rPr lang="en-US" dirty="0"/>
              <a:t> showed a </a:t>
            </a:r>
            <a:r>
              <a:rPr lang="en-US" b="1" dirty="0"/>
              <a:t>cyclical pattern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Peak months:</a:t>
            </a:r>
            <a:r>
              <a:rPr lang="en-US" dirty="0"/>
              <a:t> January–March (cold/flu season) and July–September (monsoon infections).</a:t>
            </a:r>
          </a:p>
          <a:p>
            <a:pPr lvl="1"/>
            <a:r>
              <a:rPr lang="en-US" b="1" dirty="0"/>
              <a:t>Low months:</a:t>
            </a:r>
            <a:r>
              <a:rPr lang="en-US" dirty="0"/>
              <a:t> April–June and November–December.</a:t>
            </a:r>
          </a:p>
          <a:p>
            <a:r>
              <a:rPr lang="en-US" dirty="0"/>
              <a:t>Average monthly demand steadily increased over the years, reflecting </a:t>
            </a:r>
            <a:r>
              <a:rPr lang="en-US" b="1" dirty="0"/>
              <a:t>population growth</a:t>
            </a:r>
            <a:r>
              <a:rPr lang="en-US" dirty="0"/>
              <a:t> and </a:t>
            </a:r>
            <a:r>
              <a:rPr lang="en-US" b="1" dirty="0"/>
              <a:t>increased medicine consumption</a:t>
            </a:r>
            <a:r>
              <a:rPr lang="en-US" dirty="0"/>
              <a:t> post-pandemic.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Seasonal peaks can guide </a:t>
            </a:r>
            <a:r>
              <a:rPr lang="en-US" b="1" dirty="0"/>
              <a:t>procurement and manufacturing planning</a:t>
            </a:r>
            <a:r>
              <a:rPr lang="en-US" dirty="0"/>
              <a:t> for bulk medicines.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0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206" y="1852449"/>
            <a:ext cx="5751587" cy="4297689"/>
          </a:xfrm>
        </p:spPr>
      </p:pic>
    </p:spTree>
    <p:extLst>
      <p:ext uri="{BB962C8B-B14F-4D97-AF65-F5344CB8AC3E}">
        <p14:creationId xmlns:p14="http://schemas.microsoft.com/office/powerpoint/2010/main" val="41229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3️⃣ Stacked Bar Chart – Category-wise Monthly Demand</a:t>
            </a:r>
          </a:p>
          <a:p>
            <a:r>
              <a:rPr lang="en-US" dirty="0"/>
              <a:t>Data was divided into three key categories: </a:t>
            </a:r>
            <a:r>
              <a:rPr lang="en-US" b="1" dirty="0"/>
              <a:t>Antibiotics</a:t>
            </a:r>
            <a:r>
              <a:rPr lang="en-US" dirty="0"/>
              <a:t>, </a:t>
            </a:r>
            <a:r>
              <a:rPr lang="en-US" b="1" dirty="0"/>
              <a:t>Painkillers</a:t>
            </a:r>
            <a:r>
              <a:rPr lang="en-US" dirty="0"/>
              <a:t>, and </a:t>
            </a:r>
            <a:r>
              <a:rPr lang="en-US" b="1" dirty="0"/>
              <a:t>Vitamins</a:t>
            </a:r>
            <a:r>
              <a:rPr lang="en-US" dirty="0"/>
              <a:t>.</a:t>
            </a:r>
          </a:p>
          <a:p>
            <a:r>
              <a:rPr lang="en-US" dirty="0"/>
              <a:t>Findings:</a:t>
            </a:r>
          </a:p>
          <a:p>
            <a:pPr lvl="1"/>
            <a:r>
              <a:rPr lang="en-US" b="1" dirty="0"/>
              <a:t>Antibiotics:</a:t>
            </a:r>
            <a:r>
              <a:rPr lang="en-US" dirty="0"/>
              <a:t> ~45% of total demand, strong seasonality during rainy months.</a:t>
            </a:r>
          </a:p>
          <a:p>
            <a:pPr lvl="1"/>
            <a:r>
              <a:rPr lang="en-US" b="1" dirty="0"/>
              <a:t>Painkillers:</a:t>
            </a:r>
            <a:r>
              <a:rPr lang="en-US" dirty="0"/>
              <a:t> ~35%, relatively stable throughout the year.</a:t>
            </a:r>
          </a:p>
          <a:p>
            <a:pPr lvl="1"/>
            <a:r>
              <a:rPr lang="en-US" b="1" dirty="0"/>
              <a:t>Vitamins:</a:t>
            </a:r>
            <a:r>
              <a:rPr lang="en-US" dirty="0"/>
              <a:t> ~15–20%, increased during pandemic years and winter months.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Categorizing medicine demand helps suppliers </a:t>
            </a:r>
            <a:r>
              <a:rPr lang="en-US" b="1" dirty="0"/>
              <a:t>prioritize high-rotation drugs</a:t>
            </a:r>
            <a:r>
              <a:rPr lang="en-US" dirty="0"/>
              <a:t> while managing slower-moving SKUs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78411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</a:t>
            </a:r>
            <a:r>
              <a:rPr lang="en-US" dirty="0" smtClean="0"/>
              <a:t> Visualization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290083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4️⃣ Combined Stacked Bar Chart – Category + Total Demand</a:t>
            </a:r>
          </a:p>
          <a:p>
            <a:r>
              <a:rPr lang="en-US" dirty="0"/>
              <a:t>Combined chart integrated </a:t>
            </a:r>
            <a:r>
              <a:rPr lang="en-US" b="1" dirty="0"/>
              <a:t>stacked category bars</a:t>
            </a:r>
            <a:r>
              <a:rPr lang="en-US" dirty="0"/>
              <a:t> with a </a:t>
            </a:r>
            <a:r>
              <a:rPr lang="en-US" b="1" dirty="0"/>
              <a:t>red trend line</a:t>
            </a:r>
            <a:r>
              <a:rPr lang="en-US" dirty="0"/>
              <a:t> showing </a:t>
            </a:r>
            <a:r>
              <a:rPr lang="en-US" b="1" dirty="0"/>
              <a:t>total monthly demand</a:t>
            </a:r>
            <a:r>
              <a:rPr lang="en-US" dirty="0"/>
              <a:t>.</a:t>
            </a:r>
          </a:p>
          <a:p>
            <a:r>
              <a:rPr lang="en-US" dirty="0"/>
              <a:t>This view clearly highlighted:</a:t>
            </a:r>
          </a:p>
          <a:p>
            <a:pPr lvl="1"/>
            <a:r>
              <a:rPr lang="en-US" dirty="0"/>
              <a:t>Seasonal spikes aligned with infection waves.</a:t>
            </a:r>
          </a:p>
          <a:p>
            <a:pPr lvl="1"/>
            <a:r>
              <a:rPr lang="en-US" dirty="0"/>
              <a:t>Gradual upward movement of total sales volume.</a:t>
            </a:r>
          </a:p>
          <a:p>
            <a:pPr lvl="1"/>
            <a:r>
              <a:rPr lang="en-US" dirty="0"/>
              <a:t>Balanced contribution across all three categories over time.</a:t>
            </a:r>
          </a:p>
          <a:p>
            <a:r>
              <a:rPr lang="en-US" dirty="0"/>
              <a:t>📊 </a:t>
            </a:r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Useful for </a:t>
            </a:r>
            <a:r>
              <a:rPr lang="en-US" b="1" dirty="0"/>
              <a:t>executive dashboards</a:t>
            </a:r>
            <a:r>
              <a:rPr lang="en-US" dirty="0"/>
              <a:t> to track both total and segment-level performance in one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3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Used:</a:t>
            </a:r>
          </a:p>
          <a:p>
            <a:r>
              <a:rPr lang="en-US" b="1" dirty="0"/>
              <a:t>ARIMA (</a:t>
            </a:r>
            <a:r>
              <a:rPr lang="en-US" b="1" dirty="0" err="1"/>
              <a:t>AutoRegressive</a:t>
            </a:r>
            <a:r>
              <a:rPr lang="en-US" b="1" dirty="0"/>
              <a:t> Integrated Moving Average)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Chosen due to its strong performance for </a:t>
            </a:r>
            <a:r>
              <a:rPr lang="en-US" b="1" dirty="0"/>
              <a:t>univariate time-series forecasting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799213"/>
              </p:ext>
            </p:extLst>
          </p:nvPr>
        </p:nvGraphicFramePr>
        <p:xfrm>
          <a:off x="838200" y="379624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067284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55404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 (2)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Lag order capturing past dependencies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20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 (1)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Differencing for trend removal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57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q (2)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Moving average component for noise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458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46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= ARIMA(train, order=(2, 1, 2))</a:t>
            </a:r>
          </a:p>
          <a:p>
            <a:r>
              <a:rPr lang="en-US" dirty="0" err="1"/>
              <a:t>model_fit</a:t>
            </a:r>
            <a:r>
              <a:rPr lang="en-US" dirty="0"/>
              <a:t> = </a:t>
            </a:r>
            <a:r>
              <a:rPr lang="en-US" dirty="0" err="1"/>
              <a:t>model.fit</a:t>
            </a:r>
            <a:r>
              <a:rPr lang="en-US" dirty="0"/>
              <a:t>()</a:t>
            </a:r>
          </a:p>
          <a:p>
            <a:r>
              <a:rPr lang="en-US" dirty="0"/>
              <a:t>forecast = </a:t>
            </a:r>
            <a:r>
              <a:rPr lang="en-US" dirty="0" err="1"/>
              <a:t>model_fit.get_forecast</a:t>
            </a:r>
            <a:r>
              <a:rPr lang="en-US" dirty="0"/>
              <a:t>(steps=30)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/>
              <a:t>Model </a:t>
            </a:r>
            <a:r>
              <a:rPr lang="en-US" altLang="en-US" sz="2400" dirty="0"/>
              <a:t>trained on data from </a:t>
            </a:r>
            <a:r>
              <a:rPr lang="en-US" altLang="en-US" sz="2400" b="1" dirty="0"/>
              <a:t>2020–2023</a:t>
            </a:r>
            <a:r>
              <a:rPr lang="en-US" altLang="en-US" sz="2400" dirty="0"/>
              <a:t>, excluding the last 30 days (for testing).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Predictions made for the next 30 days.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95% </a:t>
            </a:r>
            <a:r>
              <a:rPr lang="en-US" altLang="en-US" sz="2400" b="1" dirty="0"/>
              <a:t>confidence intervals</a:t>
            </a:r>
            <a:r>
              <a:rPr lang="en-US" altLang="en-US" sz="2400" dirty="0"/>
              <a:t> computed to represent uncertainty.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145123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 Plot – 30-Day Prediction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38200" y="1741255"/>
            <a:ext cx="68659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line: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Historical daily demand (2020–2023).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line: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Forecasted demand (next 30 days).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Pink band: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95% confidence interval.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1381" y="323075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Key Observations:</a:t>
            </a:r>
          </a:p>
          <a:p>
            <a:r>
              <a:rPr lang="en-US" dirty="0"/>
              <a:t>Predicted a </a:t>
            </a:r>
            <a:r>
              <a:rPr lang="en-US" b="1" dirty="0"/>
              <a:t>moderate upward trend</a:t>
            </a:r>
            <a:r>
              <a:rPr lang="en-US" dirty="0"/>
              <a:t> — possibly due to the approaching flu season.</a:t>
            </a:r>
          </a:p>
          <a:p>
            <a:r>
              <a:rPr lang="en-US" dirty="0"/>
              <a:t>The </a:t>
            </a:r>
            <a:r>
              <a:rPr lang="en-US" b="1" dirty="0"/>
              <a:t>confidence interval widened</a:t>
            </a:r>
            <a:r>
              <a:rPr lang="en-US" dirty="0"/>
              <a:t> with time, representing typical forecast uncertainty.</a:t>
            </a:r>
          </a:p>
          <a:p>
            <a:r>
              <a:rPr lang="en-US" dirty="0"/>
              <a:t>Forecast accuracy remained high for short-term predictions (7–14 days).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9090" y="526208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📊 </a:t>
            </a:r>
            <a:r>
              <a:rPr lang="en-US" b="1" dirty="0"/>
              <a:t>Operational 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Procurement teams can use these predictions to </a:t>
            </a:r>
            <a:r>
              <a:rPr lang="en-US" b="1" dirty="0"/>
              <a:t>pre-order stock</a:t>
            </a:r>
            <a:r>
              <a:rPr lang="en-US" dirty="0"/>
              <a:t> from distributors.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avoid shortages during disease outbreaks or sudden demand surges.</a:t>
            </a:r>
          </a:p>
        </p:txBody>
      </p:sp>
    </p:spTree>
    <p:extLst>
      <p:ext uri="{BB962C8B-B14F-4D97-AF65-F5344CB8AC3E}">
        <p14:creationId xmlns:p14="http://schemas.microsoft.com/office/powerpoint/2010/main" val="174071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Evaluation Metrics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625790"/>
              </p:ext>
            </p:extLst>
          </p:nvPr>
        </p:nvGraphicFramePr>
        <p:xfrm>
          <a:off x="949036" y="2535483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900426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458307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06844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52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 Absolute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23.64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544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RMSE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Root Mean Squared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31.28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13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R²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Coefficient of Determination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79941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49036" y="439444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MAE and RMSE indicate that the model predicts near-accurate daily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R² value of </a:t>
            </a:r>
            <a:r>
              <a:rPr lang="en-US" b="1" dirty="0"/>
              <a:t>0.88</a:t>
            </a:r>
            <a:r>
              <a:rPr lang="en-US" dirty="0"/>
              <a:t> shows that ARIMA explains 88% of the variation in demand trends.</a:t>
            </a:r>
          </a:p>
        </p:txBody>
      </p:sp>
    </p:spTree>
    <p:extLst>
      <p:ext uri="{BB962C8B-B14F-4D97-AF65-F5344CB8AC3E}">
        <p14:creationId xmlns:p14="http://schemas.microsoft.com/office/powerpoint/2010/main" val="117244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Insights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14060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781716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86870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02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High seasonality in medicine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Helps plan production and supply chain 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7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Upward demand trend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Indicates market expansion and revenue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013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Antibiotics dominate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Reinforces importance of infection-related medicines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05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Increased vitamin demand post-pandemic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Signals growing health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220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Forecast-driven inventory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Minimizes shortages, saves storage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574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24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309" y="1513022"/>
            <a:ext cx="1040476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Incorporate External Variables: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Include features like temperature, humidity, and outbreak indicators (flu/COVID data).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Multivariate Modeling: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Use </a:t>
            </a:r>
            <a:r>
              <a:rPr lang="en-US" altLang="en-US" b="1" dirty="0">
                <a:latin typeface="Arial" panose="020B0604020202020204" pitchFamily="34" charset="0"/>
              </a:rPr>
              <a:t>SARIMAX</a:t>
            </a:r>
            <a:r>
              <a:rPr lang="en-US" altLang="en-US" dirty="0">
                <a:latin typeface="Arial" panose="020B0604020202020204" pitchFamily="34" charset="0"/>
              </a:rPr>
              <a:t> or </a:t>
            </a:r>
            <a:r>
              <a:rPr lang="en-US" altLang="en-US" b="1" dirty="0">
                <a:latin typeface="Arial" panose="020B0604020202020204" pitchFamily="34" charset="0"/>
              </a:rPr>
              <a:t>LSTM</a:t>
            </a:r>
            <a:r>
              <a:rPr lang="en-US" altLang="en-US" dirty="0">
                <a:latin typeface="Arial" panose="020B0604020202020204" pitchFamily="34" charset="0"/>
              </a:rPr>
              <a:t> to model multiple medicines together.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Real-Time Forecasting Dashboard: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Deploy via </a:t>
            </a:r>
            <a:r>
              <a:rPr lang="en-US" altLang="en-US" b="1" dirty="0">
                <a:latin typeface="Arial" panose="020B0604020202020204" pitchFamily="34" charset="0"/>
              </a:rPr>
              <a:t>Streamlit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Power BI</a:t>
            </a:r>
            <a:r>
              <a:rPr lang="en-US" altLang="en-US" dirty="0">
                <a:latin typeface="Arial" panose="020B0604020202020204" pitchFamily="34" charset="0"/>
              </a:rPr>
              <a:t>, or </a:t>
            </a:r>
            <a:r>
              <a:rPr lang="en-US" altLang="en-US" b="1" dirty="0">
                <a:latin typeface="Arial" panose="020B0604020202020204" pitchFamily="34" charset="0"/>
              </a:rPr>
              <a:t>Tableau</a:t>
            </a:r>
            <a:r>
              <a:rPr lang="en-US" altLang="en-US" dirty="0">
                <a:latin typeface="Arial" panose="020B0604020202020204" pitchFamily="34" charset="0"/>
              </a:rPr>
              <a:t> for automated tracking.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Optimization Layer: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Integrate forecasts into </a:t>
            </a:r>
            <a:r>
              <a:rPr lang="en-US" altLang="en-US" b="1" dirty="0">
                <a:latin typeface="Arial" panose="020B0604020202020204" pitchFamily="34" charset="0"/>
              </a:rPr>
              <a:t>inventory optimization</a:t>
            </a:r>
            <a:r>
              <a:rPr lang="en-US" altLang="en-US" dirty="0">
                <a:latin typeface="Arial" panose="020B0604020202020204" pitchFamily="34" charset="0"/>
              </a:rPr>
              <a:t> for reorder point and EOQ (Economic Order Quantity).</a:t>
            </a:r>
          </a:p>
        </p:txBody>
      </p:sp>
    </p:spTree>
    <p:extLst>
      <p:ext uri="{BB962C8B-B14F-4D97-AF65-F5344CB8AC3E}">
        <p14:creationId xmlns:p14="http://schemas.microsoft.com/office/powerpoint/2010/main" val="202668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demonstrates how </a:t>
            </a:r>
            <a:r>
              <a:rPr lang="en-US" b="1" dirty="0"/>
              <a:t>data-driven forecasting</a:t>
            </a:r>
            <a:r>
              <a:rPr lang="en-US" dirty="0"/>
              <a:t> can optimize </a:t>
            </a:r>
            <a:r>
              <a:rPr lang="en-US" b="1" dirty="0"/>
              <a:t>pharmaceutical supply chains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By using ARIMA-based modeling on historical medicine sales, healthcare systems can:</a:t>
            </a:r>
          </a:p>
          <a:p>
            <a:r>
              <a:rPr lang="en-US" dirty="0"/>
              <a:t>Ensure </a:t>
            </a:r>
            <a:r>
              <a:rPr lang="en-US" b="1" dirty="0"/>
              <a:t>continuous drug availability</a:t>
            </a:r>
            <a:r>
              <a:rPr lang="en-US" dirty="0"/>
              <a:t>,</a:t>
            </a:r>
          </a:p>
          <a:p>
            <a:r>
              <a:rPr lang="en-US" dirty="0"/>
              <a:t>Reduce </a:t>
            </a:r>
            <a:r>
              <a:rPr lang="en-US" b="1" dirty="0"/>
              <a:t>wastage due to overstocking</a:t>
            </a:r>
            <a:r>
              <a:rPr lang="en-US" dirty="0"/>
              <a:t>, and</a:t>
            </a:r>
          </a:p>
          <a:p>
            <a:r>
              <a:rPr lang="en-US" dirty="0"/>
              <a:t>Improve </a:t>
            </a:r>
            <a:r>
              <a:rPr lang="en-US" b="1" dirty="0"/>
              <a:t>patient satisfaction</a:t>
            </a:r>
            <a:r>
              <a:rPr lang="en-US" dirty="0"/>
              <a:t> through proactive management.</a:t>
            </a:r>
          </a:p>
          <a:p>
            <a:r>
              <a:rPr lang="en-US" dirty="0"/>
              <a:t>The system provides a </a:t>
            </a:r>
            <a:r>
              <a:rPr lang="en-US" b="1" dirty="0"/>
              <a:t>data-backed foundation</a:t>
            </a:r>
            <a:r>
              <a:rPr lang="en-US" dirty="0"/>
              <a:t> for smarter inventory, production, and procurement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25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Cleaned &amp; synthetic dataset (2020–2023)</a:t>
            </a:r>
            <a:br>
              <a:rPr lang="en-US" dirty="0"/>
            </a:br>
            <a:r>
              <a:rPr lang="en-US" dirty="0"/>
              <a:t>✅ Python code with EDA + ARIMA model</a:t>
            </a:r>
            <a:br>
              <a:rPr lang="en-US" dirty="0"/>
            </a:br>
            <a:r>
              <a:rPr lang="en-US" dirty="0"/>
              <a:t>✅ Visualizations: Histogram, Bar Chart, Stacked Chart, Forecast Plot</a:t>
            </a:r>
            <a:br>
              <a:rPr lang="en-US" dirty="0"/>
            </a:br>
            <a:r>
              <a:rPr lang="en-US" dirty="0"/>
              <a:t>✅ Model performance metrics (MAE, RMSE, R²)</a:t>
            </a:r>
            <a:br>
              <a:rPr lang="en-US" dirty="0"/>
            </a:br>
            <a:r>
              <a:rPr lang="en-US" dirty="0"/>
              <a:t>✅ Executive-level insights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94073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782</Words>
  <Application>Microsoft Office PowerPoint</Application>
  <PresentationFormat>Widescreen</PresentationFormat>
  <Paragraphs>142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CIDFont+F1</vt:lpstr>
      <vt:lpstr>Office Theme</vt:lpstr>
      <vt:lpstr>Medicine Demand Forecasting</vt:lpstr>
      <vt:lpstr>Google Colab URL</vt:lpstr>
      <vt:lpstr>Objective</vt:lpstr>
      <vt:lpstr>Dataset Description</vt:lpstr>
      <vt:lpstr>Data Visualization </vt:lpstr>
      <vt:lpstr>Data Characteristics</vt:lpstr>
      <vt:lpstr>Data Visualization </vt:lpstr>
      <vt:lpstr>Exploratory Data Analysis (EDA)</vt:lpstr>
      <vt:lpstr>Data Visualization </vt:lpstr>
      <vt:lpstr>Exploratory Data Analysis (EDA)</vt:lpstr>
      <vt:lpstr>Data Visualization</vt:lpstr>
      <vt:lpstr>Exploratory Data Analysis (EDA)</vt:lpstr>
      <vt:lpstr>Data Visualization</vt:lpstr>
      <vt:lpstr>Exploratory Data Analysis (EDA)</vt:lpstr>
      <vt:lpstr>Modeling Approach</vt:lpstr>
      <vt:lpstr>Modeling Approach</vt:lpstr>
      <vt:lpstr>Data Visualization </vt:lpstr>
      <vt:lpstr>Forecast Plot – 30-Day Prediction</vt:lpstr>
      <vt:lpstr>Model Evaluation Metrics</vt:lpstr>
      <vt:lpstr>Business Insights</vt:lpstr>
      <vt:lpstr>Future Enhancements</vt:lpstr>
      <vt:lpstr>Conclusion</vt:lpstr>
      <vt:lpstr>Final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Medicine Demand Forecasting</dc:title>
  <dc:creator>KUMAR</dc:creator>
  <cp:lastModifiedBy>KUMAR</cp:lastModifiedBy>
  <cp:revision>28</cp:revision>
  <dcterms:created xsi:type="dcterms:W3CDTF">2025-10-31T11:03:42Z</dcterms:created>
  <dcterms:modified xsi:type="dcterms:W3CDTF">2025-11-04T07:19:29Z</dcterms:modified>
</cp:coreProperties>
</file>